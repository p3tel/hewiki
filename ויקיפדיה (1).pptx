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58" r:id="rId5"/>
    <p:sldId id="265" r:id="rId6"/>
    <p:sldId id="266" r:id="rId7"/>
    <p:sldId id="268" r:id="rId8"/>
    <p:sldId id="261" r:id="rId9"/>
    <p:sldId id="267" r:id="rId10"/>
    <p:sldId id="270" r:id="rId11"/>
    <p:sldId id="271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סגנון בהיר 1 - הדגשה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סגנון בהיר 3 - הדגשה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סגנון בהיר 1 - הדגשה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ds Bahat-Petel" userId="07be139f75d61314" providerId="LiveId" clId="{964A0A84-33AD-423D-966F-29E74693A333}"/>
    <pc:docChg chg="undo custSel modSld sldOrd">
      <pc:chgData name="Kids Bahat-Petel" userId="07be139f75d61314" providerId="LiveId" clId="{964A0A84-33AD-423D-966F-29E74693A333}" dt="2026-02-16T21:57:00.772" v="533" actId="20577"/>
      <pc:docMkLst>
        <pc:docMk/>
      </pc:docMkLst>
      <pc:sldChg chg="modSp mod ord">
        <pc:chgData name="Kids Bahat-Petel" userId="07be139f75d61314" providerId="LiveId" clId="{964A0A84-33AD-423D-966F-29E74693A333}" dt="2026-02-16T21:57:00.772" v="533" actId="20577"/>
        <pc:sldMkLst>
          <pc:docMk/>
          <pc:sldMk cId="824558055" sldId="256"/>
        </pc:sldMkLst>
        <pc:spChg chg="mod">
          <ac:chgData name="Kids Bahat-Petel" userId="07be139f75d61314" providerId="LiveId" clId="{964A0A84-33AD-423D-966F-29E74693A333}" dt="2026-02-16T21:57:00.772" v="533" actId="20577"/>
          <ac:spMkLst>
            <pc:docMk/>
            <pc:sldMk cId="824558055" sldId="256"/>
            <ac:spMk id="2" creationId="{B2734E1E-1698-1344-1EBA-B959E14D4EBB}"/>
          </ac:spMkLst>
        </pc:spChg>
      </pc:sldChg>
      <pc:sldChg chg="ord modNotesTx">
        <pc:chgData name="Kids Bahat-Petel" userId="07be139f75d61314" providerId="LiveId" clId="{964A0A84-33AD-423D-966F-29E74693A333}" dt="2026-02-16T13:14:04.248" v="226"/>
        <pc:sldMkLst>
          <pc:docMk/>
          <pc:sldMk cId="3059014671" sldId="257"/>
        </pc:sldMkLst>
      </pc:sldChg>
      <pc:sldChg chg="delSp modSp mod">
        <pc:chgData name="Kids Bahat-Petel" userId="07be139f75d61314" providerId="LiveId" clId="{964A0A84-33AD-423D-966F-29E74693A333}" dt="2026-02-11T19:19:54.404" v="161" actId="14100"/>
        <pc:sldMkLst>
          <pc:docMk/>
          <pc:sldMk cId="185686744" sldId="258"/>
        </pc:sldMkLst>
        <pc:picChg chg="mod">
          <ac:chgData name="Kids Bahat-Petel" userId="07be139f75d61314" providerId="LiveId" clId="{964A0A84-33AD-423D-966F-29E74693A333}" dt="2026-02-11T19:19:47.934" v="159" actId="14100"/>
          <ac:picMkLst>
            <pc:docMk/>
            <pc:sldMk cId="185686744" sldId="258"/>
            <ac:picMk id="5" creationId="{039D9D06-C233-5B94-703C-24E59541D519}"/>
          </ac:picMkLst>
        </pc:picChg>
        <pc:picChg chg="mod">
          <ac:chgData name="Kids Bahat-Petel" userId="07be139f75d61314" providerId="LiveId" clId="{964A0A84-33AD-423D-966F-29E74693A333}" dt="2026-02-11T19:19:54.404" v="161" actId="14100"/>
          <ac:picMkLst>
            <pc:docMk/>
            <pc:sldMk cId="185686744" sldId="258"/>
            <ac:picMk id="6" creationId="{B0F2611A-2804-2593-63D6-0093B32A0308}"/>
          </ac:picMkLst>
        </pc:picChg>
      </pc:sldChg>
      <pc:sldChg chg="modSp mod ord">
        <pc:chgData name="Kids Bahat-Petel" userId="07be139f75d61314" providerId="LiveId" clId="{964A0A84-33AD-423D-966F-29E74693A333}" dt="2026-02-16T19:00:24.426" v="505"/>
        <pc:sldMkLst>
          <pc:docMk/>
          <pc:sldMk cId="1064615961" sldId="261"/>
        </pc:sldMkLst>
        <pc:spChg chg="mod">
          <ac:chgData name="Kids Bahat-Petel" userId="07be139f75d61314" providerId="LiveId" clId="{964A0A84-33AD-423D-966F-29E74693A333}" dt="2026-02-16T17:47:44.574" v="473" actId="20577"/>
          <ac:spMkLst>
            <pc:docMk/>
            <pc:sldMk cId="1064615961" sldId="261"/>
            <ac:spMk id="3" creationId="{18B0C1B0-F522-AAF7-DE91-2C7221257DDA}"/>
          </ac:spMkLst>
        </pc:spChg>
      </pc:sldChg>
      <pc:sldChg chg="modSp mod">
        <pc:chgData name="Kids Bahat-Petel" userId="07be139f75d61314" providerId="LiveId" clId="{964A0A84-33AD-423D-966F-29E74693A333}" dt="2026-02-16T13:14:31.259" v="227" actId="20577"/>
        <pc:sldMkLst>
          <pc:docMk/>
          <pc:sldMk cId="4110654832" sldId="265"/>
        </pc:sldMkLst>
        <pc:graphicFrameChg chg="modGraphic">
          <ac:chgData name="Kids Bahat-Petel" userId="07be139f75d61314" providerId="LiveId" clId="{964A0A84-33AD-423D-966F-29E74693A333}" dt="2026-02-16T13:14:31.259" v="227" actId="20577"/>
          <ac:graphicFrameMkLst>
            <pc:docMk/>
            <pc:sldMk cId="4110654832" sldId="265"/>
            <ac:graphicFrameMk id="2" creationId="{BFAF6682-2505-BEE5-A181-21937712F167}"/>
          </ac:graphicFrameMkLst>
        </pc:graphicFrameChg>
      </pc:sldChg>
      <pc:sldChg chg="addSp delSp modSp mod modNotesTx">
        <pc:chgData name="Kids Bahat-Petel" userId="07be139f75d61314" providerId="LiveId" clId="{964A0A84-33AD-423D-966F-29E74693A333}" dt="2026-02-16T21:55:27.371" v="527" actId="20577"/>
        <pc:sldMkLst>
          <pc:docMk/>
          <pc:sldMk cId="1593039456" sldId="266"/>
        </pc:sldMkLst>
        <pc:spChg chg="add del">
          <ac:chgData name="Kids Bahat-Petel" userId="07be139f75d61314" providerId="LiveId" clId="{964A0A84-33AD-423D-966F-29E74693A333}" dt="2026-02-16T21:55:11.184" v="526" actId="22"/>
          <ac:spMkLst>
            <pc:docMk/>
            <pc:sldMk cId="1593039456" sldId="266"/>
            <ac:spMk id="8" creationId="{331DA85E-EDB1-3988-BCA8-32575F9DCCBC}"/>
          </ac:spMkLst>
        </pc:spChg>
        <pc:graphicFrameChg chg="modGraphic">
          <ac:chgData name="Kids Bahat-Petel" userId="07be139f75d61314" providerId="LiveId" clId="{964A0A84-33AD-423D-966F-29E74693A333}" dt="2026-02-16T21:54:56.945" v="524" actId="20577"/>
          <ac:graphicFrameMkLst>
            <pc:docMk/>
            <pc:sldMk cId="1593039456" sldId="266"/>
            <ac:graphicFrameMk id="3" creationId="{47847E57-E192-814E-F652-CD75AB633BB8}"/>
          </ac:graphicFrameMkLst>
        </pc:graphicFrameChg>
        <pc:graphicFrameChg chg="modGraphic">
          <ac:chgData name="Kids Bahat-Petel" userId="07be139f75d61314" providerId="LiveId" clId="{964A0A84-33AD-423D-966F-29E74693A333}" dt="2026-02-16T21:55:27.371" v="527" actId="20577"/>
          <ac:graphicFrameMkLst>
            <pc:docMk/>
            <pc:sldMk cId="1593039456" sldId="266"/>
            <ac:graphicFrameMk id="6" creationId="{6EFD95EC-8560-1495-EC8C-9316BD36EBF6}"/>
          </ac:graphicFrameMkLst>
        </pc:graphicFrameChg>
        <pc:picChg chg="add mod">
          <ac:chgData name="Kids Bahat-Petel" userId="07be139f75d61314" providerId="LiveId" clId="{964A0A84-33AD-423D-966F-29E74693A333}" dt="2026-02-11T19:16:09.575" v="115" actId="1076"/>
          <ac:picMkLst>
            <pc:docMk/>
            <pc:sldMk cId="1593039456" sldId="266"/>
            <ac:picMk id="7" creationId="{DDB56E71-8954-E17D-0BA5-6467C290638B}"/>
          </ac:picMkLst>
        </pc:picChg>
      </pc:sldChg>
      <pc:sldChg chg="addSp delSp modSp mod ord modNotesTx">
        <pc:chgData name="Kids Bahat-Petel" userId="07be139f75d61314" providerId="LiveId" clId="{964A0A84-33AD-423D-966F-29E74693A333}" dt="2026-02-16T18:20:27.281" v="503"/>
        <pc:sldMkLst>
          <pc:docMk/>
          <pc:sldMk cId="3102538151" sldId="267"/>
        </pc:sldMkLst>
        <pc:spChg chg="mod">
          <ac:chgData name="Kids Bahat-Petel" userId="07be139f75d61314" providerId="LiveId" clId="{964A0A84-33AD-423D-966F-29E74693A333}" dt="2026-02-16T17:46:34.035" v="472" actId="20577"/>
          <ac:spMkLst>
            <pc:docMk/>
            <pc:sldMk cId="3102538151" sldId="267"/>
            <ac:spMk id="4" creationId="{45988EEC-1E06-4584-2BCF-E084B9BB98BD}"/>
          </ac:spMkLst>
        </pc:spChg>
        <pc:picChg chg="add mod">
          <ac:chgData name="Kids Bahat-Petel" userId="07be139f75d61314" providerId="LiveId" clId="{964A0A84-33AD-423D-966F-29E74693A333}" dt="2026-02-16T17:45:55.342" v="401" actId="14100"/>
          <ac:picMkLst>
            <pc:docMk/>
            <pc:sldMk cId="3102538151" sldId="267"/>
            <ac:picMk id="6" creationId="{3DEBD9F0-0E97-7D9D-5DB3-035F83965394}"/>
          </ac:picMkLst>
        </pc:picChg>
      </pc:sldChg>
      <pc:sldChg chg="ord">
        <pc:chgData name="Kids Bahat-Petel" userId="07be139f75d61314" providerId="LiveId" clId="{964A0A84-33AD-423D-966F-29E74693A333}" dt="2026-02-16T13:14:01.625" v="224"/>
        <pc:sldMkLst>
          <pc:docMk/>
          <pc:sldMk cId="2998614363" sldId="269"/>
        </pc:sldMkLst>
      </pc:sldChg>
      <pc:sldChg chg="addSp delSp modSp mod">
        <pc:chgData name="Kids Bahat-Petel" userId="07be139f75d61314" providerId="LiveId" clId="{964A0A84-33AD-423D-966F-29E74693A333}" dt="2026-02-12T12:19:38.589" v="175" actId="171"/>
        <pc:sldMkLst>
          <pc:docMk/>
          <pc:sldMk cId="124475091" sldId="270"/>
        </pc:sldMkLst>
        <pc:picChg chg="mod">
          <ac:chgData name="Kids Bahat-Petel" userId="07be139f75d61314" providerId="LiveId" clId="{964A0A84-33AD-423D-966F-29E74693A333}" dt="2026-02-12T12:19:32.089" v="173" actId="1076"/>
          <ac:picMkLst>
            <pc:docMk/>
            <pc:sldMk cId="124475091" sldId="270"/>
            <ac:picMk id="3" creationId="{CF3D2B85-F1C2-EB1A-C38D-7309EA7322C0}"/>
          </ac:picMkLst>
        </pc:picChg>
        <pc:picChg chg="add mod ord">
          <ac:chgData name="Kids Bahat-Petel" userId="07be139f75d61314" providerId="LiveId" clId="{964A0A84-33AD-423D-966F-29E74693A333}" dt="2026-02-12T12:19:38.589" v="175" actId="171"/>
          <ac:picMkLst>
            <pc:docMk/>
            <pc:sldMk cId="124475091" sldId="270"/>
            <ac:picMk id="4" creationId="{8A6606F8-883A-85B9-E997-93F2D93A908E}"/>
          </ac:picMkLst>
        </pc:picChg>
      </pc:sldChg>
      <pc:sldChg chg="delSp modSp mod">
        <pc:chgData name="Kids Bahat-Petel" userId="07be139f75d61314" providerId="LiveId" clId="{964A0A84-33AD-423D-966F-29E74693A333}" dt="2026-02-16T18:20:15.382" v="501" actId="255"/>
        <pc:sldMkLst>
          <pc:docMk/>
          <pc:sldMk cId="4165378369" sldId="271"/>
        </pc:sldMkLst>
        <pc:spChg chg="mod">
          <ac:chgData name="Kids Bahat-Petel" userId="07be139f75d61314" providerId="LiveId" clId="{964A0A84-33AD-423D-966F-29E74693A333}" dt="2026-02-16T18:20:15.382" v="501" actId="255"/>
          <ac:spMkLst>
            <pc:docMk/>
            <pc:sldMk cId="4165378369" sldId="271"/>
            <ac:spMk id="2" creationId="{B3354981-5A27-047B-A843-46CC8047A9F3}"/>
          </ac:spMkLst>
        </pc:spChg>
        <pc:spChg chg="del mod">
          <ac:chgData name="Kids Bahat-Petel" userId="07be139f75d61314" providerId="LiveId" clId="{964A0A84-33AD-423D-966F-29E74693A333}" dt="2026-02-16T18:19:56.759" v="475" actId="478"/>
          <ac:spMkLst>
            <pc:docMk/>
            <pc:sldMk cId="4165378369" sldId="271"/>
            <ac:spMk id="3" creationId="{8BC4B8C0-5B4F-F3A9-2431-9053B68BB4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36D21A7-0265-439A-A29A-812F650DCCFA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A8ACF27-2D7C-4319-8360-EE2A1C9BB82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535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CF27-2D7C-4319-8360-EE2A1C9BB82B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967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CF27-2D7C-4319-8360-EE2A1C9BB82B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8467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1ED9-6827-530F-ED34-1F5A572B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E5DA823-3998-1EF8-C127-8E73EFCE3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88FF8B16-36F4-8553-2B40-003F59888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87A32F6-CB11-8A67-D088-DCAFC6DDC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CF27-2D7C-4319-8360-EE2A1C9BB82B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1394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5179-8270-4AEF-678F-EEFB1229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9EFC0A4-98AB-9940-8C91-2D71CEED6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8FC9BF3-7190-596B-9B3D-A6140AEE4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reciprocity = 1 – </a:t>
            </a:r>
            <a:r>
              <a:rPr lang="en-US" dirty="0" err="1"/>
              <a:t>asymm</a:t>
            </a:r>
            <a:r>
              <a:rPr lang="en-US" dirty="0"/>
              <a:t> = 0.1308</a:t>
            </a:r>
            <a:br>
              <a:rPr lang="en-US" dirty="0"/>
            </a:br>
            <a:r>
              <a:rPr lang="he-IL" dirty="0"/>
              <a:t>הקוטר עובר דרך גאוס, בשביל </a:t>
            </a:r>
            <a:r>
              <a:rPr lang="he-IL" dirty="0" err="1"/>
              <a:t>אנטרטיקה</a:t>
            </a:r>
            <a:r>
              <a:rPr lang="he-IL" dirty="0"/>
              <a:t>, כל הדרכים הארוכות עם </a:t>
            </a:r>
            <a:r>
              <a:rPr lang="he-IL" dirty="0" err="1"/>
              <a:t>אנטרטיקה</a:t>
            </a:r>
            <a:r>
              <a:rPr lang="he-IL" dirty="0"/>
              <a:t> משהו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80205BB-BAE2-471E-75A2-B955DF4D3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CF27-2D7C-4319-8360-EE2A1C9BB82B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7829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סין, היסטוריה, פילוסופיה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CF27-2D7C-4319-8360-EE2A1C9BB82B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6906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אנגלית, ארה"ב, ישראל. ישראל, עשור ראשון מאה 21, ירושלים</a:t>
            </a:r>
            <a:br>
              <a:rPr lang="en-US" dirty="0"/>
            </a:br>
            <a:br>
              <a:rPr lang="en-US" dirty="0"/>
            </a:b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ACF27-2D7C-4319-8360-EE2A1C9BB82B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82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8769A0-D2EB-3A58-FCA3-6D543C9C0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64D7886-75F0-A4E9-CC29-5D6DE2252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7FFCB7-85D4-56DF-63A9-2A7878E8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690F191-8E5A-E43F-44B2-AE46403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93671A3-0167-5715-0B5C-7546C210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565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EB730B-1CD9-BC3E-723B-C4B5689F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9BEE73B-9471-6CB5-1E21-AE8C35F62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F7BD72-8ED3-ADCD-EECB-B1228C69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8FA012-973D-EE8D-6B88-D1CA66C4E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2DDC71B-FA67-EE4A-DEF8-877C369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889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AF0534-DAEC-97B1-AD7A-FD9BBA65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3C19C1F-883D-746A-2516-9DF8847F0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CAF3E0A-BA94-6341-E30D-B32F1839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242AFC-3AD5-4456-4926-02F696B5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2E5C017-E05A-789F-C4A8-A9895309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5887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B85405-8154-F670-FDB6-BDCCA969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E327EA7-573D-3F4F-0A75-2135EF56C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B84803-5196-60DE-14FB-AE97B004F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419001A-C97E-24DE-8117-E9190F1A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A9E34BC-7D86-5D29-D5B4-C20EDC54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E9C132F-0931-17C2-ECA5-27BC271C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201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C6CAA3-071B-D546-F06B-7AEEB4CA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24A62F3-5D23-22F0-B600-4F702E8B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97927B6-A2AF-FB30-9152-68C4E11A7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3F93D79-F684-4C5A-17A3-8C57BE3A2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B14A9-5D2B-5E19-C76B-C2271318F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D2263E6-EA75-FE77-44E2-9F88A374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2190826-16BF-8C8F-BF5F-C1CE060D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A8AA760-96A6-E0A0-F564-4B32249E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660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34FCDC-3951-9311-9636-014C423F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BF919D0-971A-928D-FAC2-4633AC64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3E8D1CB-4587-3FD6-98EA-1FC6B47B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CD84534-EEC8-215A-7995-A046E7B7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145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689E4D3-5304-B05F-4FAB-BEB07F4A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12CD1CE-5618-B017-D2A5-54B016CE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A97A238-862E-B05B-8D76-200BA4D1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190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75C062-78A8-9653-605A-95744E9F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C65384C-5738-D26D-2985-C96376F1C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5AEF0E-D45F-ED93-2793-C453530B2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31C792A-9694-11BD-EB7B-0BA0340A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EA97CFA-5E58-2B31-5D83-B4F38EB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1F888A7-8AF3-86EC-24A4-A2EFA55B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286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AC1AD5-EA41-A2F5-539D-E889F527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A8504DF-A1FC-3D8D-6135-30EEDAA95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325E20C-C41A-97B4-F0B2-654BF2D77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030CD2F-7D90-0303-FD78-DBDAF106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613BA28-9221-F72A-F239-64FEC846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297E04-9072-BF1E-3651-C24B5653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309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EE1460-48F2-888A-04B0-AFAC0379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5633A03-0585-66CC-71A2-8BDAC68E2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78AD225-D158-97DC-36DD-7A2EBF366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F913CF6-900C-0536-E1F3-5FE27753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E8161AE-594E-44E8-0C20-69363EFC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123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3EDEB6F-6EF8-403C-4DBC-C6A782138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5616F6F-7355-33D0-21E4-A47DA341C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48104E9-D653-A9CD-B51F-BE554FCB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9B8B69-B4D5-2C0D-7D61-306A9801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AF1E726-AA3E-6C2B-B8DB-703C7A91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394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C6F9AAA-0F37-A060-A95C-F446782E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91C1032-DAB1-BD31-37C9-2888BDDDF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AB4BD5-67E5-1422-90A9-327CBE85A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8A0DF-A4B9-4273-9AA0-70F50632D915}" type="datetimeFigureOut">
              <a:rPr lang="he-IL" smtClean="0"/>
              <a:t>ל'/שבט/תשפ"ו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E8FDB66-8A44-CC07-9A8F-76742F308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A2E5099-635F-8D65-B982-260415FEE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DD68B-D918-46BB-A5D1-9036644172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35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734E1E-1698-1344-1EBA-B959E14D4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he-IL" sz="9600" dirty="0">
                <a:cs typeface="+mn-cs"/>
              </a:rPr>
              <a:t>ויקיפדיה העברית</a:t>
            </a:r>
            <a:br>
              <a:rPr lang="en-US" dirty="0">
                <a:cs typeface="+mn-cs"/>
              </a:rPr>
            </a:br>
            <a:endParaRPr lang="he-IL" dirty="0">
              <a:cs typeface="+mn-cs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5C61BEE-2F59-526A-DE2E-DF7257FE65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אורי בהט-פטל, חיים לביא</a:t>
            </a:r>
          </a:p>
        </p:txBody>
      </p:sp>
    </p:spTree>
    <p:extLst>
      <p:ext uri="{BB962C8B-B14F-4D97-AF65-F5344CB8AC3E}">
        <p14:creationId xmlns:p14="http://schemas.microsoft.com/office/powerpoint/2010/main" val="82455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1A207D-BFAD-E10F-C380-0908B779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96560"/>
          </a:xfrm>
        </p:spPr>
        <p:txBody>
          <a:bodyPr>
            <a:noAutofit/>
          </a:bodyPr>
          <a:lstStyle/>
          <a:p>
            <a:r>
              <a:rPr lang="he-IL" dirty="0">
                <a:cs typeface="+mn-cs"/>
              </a:rPr>
              <a:t>מהי הרשת שלנו?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8C222D5-BE73-FD89-99D8-E9C1BDD7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18922"/>
            <a:ext cx="9144000" cy="3499561"/>
          </a:xfrm>
        </p:spPr>
        <p:txBody>
          <a:bodyPr>
            <a:noAutofit/>
          </a:bodyPr>
          <a:lstStyle/>
          <a:p>
            <a:pPr algn="r"/>
            <a:r>
              <a:rPr lang="he-IL" sz="4000" dirty="0"/>
              <a:t>קודקודים: כל הדפים </a:t>
            </a:r>
            <a:r>
              <a:rPr lang="he-IL" sz="4000" dirty="0" err="1"/>
              <a:t>שויקיפדיה</a:t>
            </a:r>
            <a:r>
              <a:rPr lang="he-IL" sz="4000" dirty="0"/>
              <a:t> כוללת בסך הערכים שלה</a:t>
            </a:r>
            <a:r>
              <a:rPr lang="en-US" sz="4000" dirty="0"/>
              <a:t>.</a:t>
            </a:r>
            <a:br>
              <a:rPr lang="en-US" sz="4000" dirty="0"/>
            </a:br>
            <a:r>
              <a:rPr lang="he-IL" sz="4000" dirty="0"/>
              <a:t>קשתות: </a:t>
            </a:r>
            <a:r>
              <a:rPr lang="he-IL" sz="4000" dirty="0" err="1"/>
              <a:t>הייפרלינקים</a:t>
            </a:r>
            <a:r>
              <a:rPr lang="he-IL" sz="4000" dirty="0"/>
              <a:t> מדף ערך אחד לערך אחר, כאשר הקשתות מכוונת ולא </a:t>
            </a:r>
            <a:r>
              <a:rPr lang="he-IL" sz="4000" dirty="0" err="1"/>
              <a:t>ממושקלות</a:t>
            </a:r>
            <a:r>
              <a:rPr lang="he-IL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901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E4CF3DB-4CDD-9BF2-488B-A97CF14C9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42" y="502265"/>
            <a:ext cx="10331115" cy="6355735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5E279BA-BE3F-FC04-4AB1-F0C45DAC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השגנו את הנתונים:</a:t>
            </a:r>
          </a:p>
        </p:txBody>
      </p:sp>
    </p:spTree>
    <p:extLst>
      <p:ext uri="{BB962C8B-B14F-4D97-AF65-F5344CB8AC3E}">
        <p14:creationId xmlns:p14="http://schemas.microsoft.com/office/powerpoint/2010/main" val="299861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9D4A6A-FA7B-9F99-EE05-89C276EC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למה בחרנו ברשת הזאת?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628958-CCDE-B4D1-63FF-93F64CB47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613" y="1825625"/>
            <a:ext cx="5831185" cy="1795761"/>
          </a:xfrm>
        </p:spPr>
        <p:txBody>
          <a:bodyPr>
            <a:normAutofit fontScale="92500"/>
          </a:bodyPr>
          <a:lstStyle/>
          <a:p>
            <a:r>
              <a:rPr lang="he-IL" dirty="0"/>
              <a:t>סקרנות לערכי ויקיפדיה ולמבנה של הרשת</a:t>
            </a:r>
          </a:p>
          <a:p>
            <a:r>
              <a:rPr lang="he-IL" dirty="0"/>
              <a:t>לבדוק את תופעת </a:t>
            </a:r>
            <a:r>
              <a:rPr lang="he-IL" dirty="0" err="1"/>
              <a:t>מילגרם</a:t>
            </a:r>
            <a:endParaRPr lang="he-IL" dirty="0"/>
          </a:p>
          <a:p>
            <a:r>
              <a:rPr lang="he-IL" dirty="0"/>
              <a:t>התעניינות לאחר הופעת משחקים סביב ויקיפדיה</a:t>
            </a:r>
          </a:p>
        </p:txBody>
      </p:sp>
      <p:pic>
        <p:nvPicPr>
          <p:cNvPr id="5" name="תמונה 4" descr="תמונה שמכילה טקסט, צילום מסך, גופן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39D9D06-C233-5B94-703C-24E59541D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" y="1"/>
            <a:ext cx="5334000" cy="3627044"/>
          </a:xfrm>
          <a:prstGeom prst="rect">
            <a:avLst/>
          </a:prstGeom>
        </p:spPr>
      </p:pic>
      <p:pic>
        <p:nvPicPr>
          <p:cNvPr id="6" name="תמונה 5" descr="תמונה שמכילה טקסט, צילום מסך, דף אינטרנט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F2611A-2804-2593-63D6-0093B32A0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2" y="3618635"/>
            <a:ext cx="7628021" cy="31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7652-E9BA-8D36-7C7C-80B9C445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B4B68C91-DC79-AF43-10E1-F6D2CA209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64962"/>
              </p:ext>
            </p:extLst>
          </p:nvPr>
        </p:nvGraphicFramePr>
        <p:xfrm>
          <a:off x="6096000" y="0"/>
          <a:ext cx="6096000" cy="6858000"/>
        </p:xfrm>
        <a:graphic>
          <a:graphicData uri="http://schemas.openxmlformats.org/drawingml/2006/table">
            <a:tbl>
              <a:tblPr rtl="1" firstRow="1" bandRow="1">
                <a:tableStyleId>{D27102A9-8310-4765-A935-A1911B00CA55}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646379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61041679"/>
                    </a:ext>
                  </a:extLst>
                </a:gridCol>
              </a:tblGrid>
              <a:tr h="1086115">
                <a:tc>
                  <a:txBody>
                    <a:bodyPr/>
                    <a:lstStyle/>
                    <a:p>
                      <a:pPr algn="l" rtl="1"/>
                      <a:r>
                        <a:rPr lang="he-IL" sz="3000" b="0" dirty="0"/>
                        <a:t>אנגלית - </a:t>
                      </a:r>
                      <a:r>
                        <a:rPr lang="en-US" sz="3000" b="0" dirty="0"/>
                        <a:t>98576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Max In-Degree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219794"/>
                  </a:ext>
                </a:extLst>
              </a:tr>
              <a:tr h="1154377">
                <a:tc>
                  <a:txBody>
                    <a:bodyPr/>
                    <a:lstStyle/>
                    <a:p>
                      <a:pPr algn="l" rtl="1"/>
                      <a:r>
                        <a:rPr lang="he-IL" sz="3000" b="0" dirty="0"/>
                        <a:t>סרטי קולנוע ישראליים - </a:t>
                      </a:r>
                      <a:r>
                        <a:rPr lang="en-US" sz="3000" b="0" dirty="0"/>
                        <a:t>2053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Max Out-Degree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922320"/>
                  </a:ext>
                </a:extLst>
              </a:tr>
              <a:tr h="1154377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32190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In-Degree 0 count: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103473"/>
                  </a:ext>
                </a:extLst>
              </a:tr>
              <a:tr h="1154377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0" dirty="0"/>
                        <a:t>1565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Out-Degree 0 count: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74802"/>
                  </a:ext>
                </a:extLst>
              </a:tr>
              <a:tr h="1154377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44132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In-Degree 1 count: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534414"/>
                  </a:ext>
                </a:extLst>
              </a:tr>
              <a:tr h="1154377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696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Out-Degree 1 count: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19859"/>
                  </a:ext>
                </a:extLst>
              </a:tr>
            </a:tbl>
          </a:graphicData>
        </a:graphic>
      </p:graphicFrame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BFAF6682-2505-BEE5-A181-21937712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540485"/>
              </p:ext>
            </p:extLst>
          </p:nvPr>
        </p:nvGraphicFramePr>
        <p:xfrm>
          <a:off x="0" y="1"/>
          <a:ext cx="6096000" cy="7137597"/>
        </p:xfrm>
        <a:graphic>
          <a:graphicData uri="http://schemas.openxmlformats.org/drawingml/2006/table">
            <a:tbl>
              <a:tblPr rtl="1" firstRow="1" bandRow="1">
                <a:tableStyleId>{D27102A9-8310-4765-A935-A1911B00CA55}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61475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75104126"/>
                    </a:ext>
                  </a:extLst>
                </a:gridCol>
              </a:tblGrid>
              <a:tr h="1082039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385390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Nodes: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4780"/>
                  </a:ext>
                </a:extLst>
              </a:tr>
              <a:tr h="1150620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14366462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Edges: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35387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384810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WCC: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84324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0" dirty="0"/>
                        <a:t>9.67*10^-5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Density: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1829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0.12185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Undirected Clustering: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43534"/>
                  </a:ext>
                </a:extLst>
              </a:tr>
              <a:tr h="1422598"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37.277</a:t>
                      </a:r>
                      <a:endParaRPr lang="he-IL" sz="3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000" b="0" dirty="0"/>
                        <a:t>Average Degree:</a:t>
                      </a:r>
                      <a:endParaRPr lang="he-IL" sz="3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472928"/>
                  </a:ext>
                </a:extLst>
              </a:tr>
            </a:tbl>
          </a:graphicData>
        </a:graphic>
      </p:graphicFrame>
      <p:sp>
        <p:nvSpPr>
          <p:cNvPr id="3" name="מלבן 2">
            <a:extLst>
              <a:ext uri="{FF2B5EF4-FFF2-40B4-BE49-F238E27FC236}">
                <a16:creationId xmlns:a16="http://schemas.microsoft.com/office/drawing/2014/main" id="{2C8FF8DF-4111-BFAD-F89D-3687C4AFA704}"/>
              </a:ext>
            </a:extLst>
          </p:cNvPr>
          <p:cNvSpPr/>
          <p:nvPr/>
        </p:nvSpPr>
        <p:spPr>
          <a:xfrm>
            <a:off x="6096000" y="0"/>
            <a:ext cx="4571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065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78A3-1546-38BD-99FA-07808CBF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6EFD95EC-8560-1495-EC8C-9316BD36E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59377"/>
              </p:ext>
            </p:extLst>
          </p:nvPr>
        </p:nvGraphicFramePr>
        <p:xfrm>
          <a:off x="5935576" y="1099947"/>
          <a:ext cx="6256424" cy="4287695"/>
        </p:xfrm>
        <a:graphic>
          <a:graphicData uri="http://schemas.openxmlformats.org/drawingml/2006/table">
            <a:tbl>
              <a:tblPr rtl="1" firstRow="1" bandRow="1">
                <a:tableStyleId>{D27102A9-8310-4765-A935-A1911B00CA55}</a:tableStyleId>
              </a:tblPr>
              <a:tblGrid>
                <a:gridCol w="3128212">
                  <a:extLst>
                    <a:ext uri="{9D8B030D-6E8A-4147-A177-3AD203B41FA5}">
                      <a16:colId xmlns:a16="http://schemas.microsoft.com/office/drawing/2014/main" val="1364637998"/>
                    </a:ext>
                  </a:extLst>
                </a:gridCol>
                <a:gridCol w="3128212">
                  <a:extLst>
                    <a:ext uri="{9D8B030D-6E8A-4147-A177-3AD203B41FA5}">
                      <a16:colId xmlns:a16="http://schemas.microsoft.com/office/drawing/2014/main" val="1961041679"/>
                    </a:ext>
                  </a:extLst>
                </a:gridCol>
              </a:tblGrid>
              <a:tr h="1001201"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0.8692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Asymmetry: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0219794"/>
                  </a:ext>
                </a:extLst>
              </a:tr>
              <a:tr h="1064127"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341350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SCC: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5922320"/>
                  </a:ext>
                </a:extLst>
              </a:tr>
              <a:tr h="1064127"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4.15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Average path length: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103473"/>
                  </a:ext>
                </a:extLst>
              </a:tr>
              <a:tr h="1064127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0"/>
                        <a:t>20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Diameter: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7774802"/>
                  </a:ext>
                </a:extLst>
              </a:tr>
            </a:tbl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5F61075-5F9E-4592-A7C6-A8072CC0EB1E}"/>
              </a:ext>
            </a:extLst>
          </p:cNvPr>
          <p:cNvSpPr txBox="1"/>
          <p:nvPr/>
        </p:nvSpPr>
        <p:spPr>
          <a:xfrm>
            <a:off x="0" y="84284"/>
            <a:ext cx="1219200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000" dirty="0"/>
              <a:t>נתונים חשובים:</a:t>
            </a: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47847E57-E192-814E-F652-CD75AB633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20792"/>
              </p:ext>
            </p:extLst>
          </p:nvPr>
        </p:nvGraphicFramePr>
        <p:xfrm>
          <a:off x="5935576" y="5387642"/>
          <a:ext cx="6256424" cy="1127760"/>
        </p:xfrm>
        <a:graphic>
          <a:graphicData uri="http://schemas.openxmlformats.org/drawingml/2006/table">
            <a:tbl>
              <a:tblPr rtl="1" firstRow="1" bandRow="1">
                <a:tableStyleId>{D27102A9-8310-4765-A935-A1911B00CA55}</a:tableStyleId>
              </a:tblPr>
              <a:tblGrid>
                <a:gridCol w="3128212">
                  <a:extLst>
                    <a:ext uri="{9D8B030D-6E8A-4147-A177-3AD203B41FA5}">
                      <a16:colId xmlns:a16="http://schemas.microsoft.com/office/drawing/2014/main" val="1364637998"/>
                    </a:ext>
                  </a:extLst>
                </a:gridCol>
                <a:gridCol w="3128212">
                  <a:extLst>
                    <a:ext uri="{9D8B030D-6E8A-4147-A177-3AD203B41FA5}">
                      <a16:colId xmlns:a16="http://schemas.microsoft.com/office/drawing/2014/main" val="1961041679"/>
                    </a:ext>
                  </a:extLst>
                </a:gridCol>
              </a:tblGrid>
              <a:tr h="1001201">
                <a:tc>
                  <a:txBody>
                    <a:bodyPr/>
                    <a:lstStyle/>
                    <a:p>
                      <a:pPr algn="l" rtl="1"/>
                      <a:r>
                        <a:rPr lang="en-US" sz="3500" b="0" dirty="0"/>
                        <a:t>0.047</a:t>
                      </a:r>
                      <a:endParaRPr lang="he-IL" sz="3500" b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3400" b="0" dirty="0"/>
                        <a:t>Cyclic clustering:</a:t>
                      </a:r>
                      <a:endParaRPr lang="he-IL" sz="3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021979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83B7741-11C3-D09C-80EE-8A64F452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pic>
        <p:nvPicPr>
          <p:cNvPr id="7" name="תמונה 6" descr="תמונה שמכילה טקסט, גופן, עיגול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DB56E71-8954-E17D-0BA5-6467C2906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89" y="3801916"/>
            <a:ext cx="33432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3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5C57C-9E00-3C1F-B5D8-F32F4BBD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קו, תרשים, עלילה, מדרון">
            <a:extLst>
              <a:ext uri="{FF2B5EF4-FFF2-40B4-BE49-F238E27FC236}">
                <a16:creationId xmlns:a16="http://schemas.microsoft.com/office/drawing/2014/main" id="{134AEDCB-CC4E-17DF-7291-084298792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5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87B9B5-6188-9255-82E1-45F0C99F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6000" dirty="0"/>
              <a:t>גשרי הגרף ועמידותו: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B0C1B0-F522-AAF7-DE91-2C7221257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he-IL" sz="4000" dirty="0" err="1"/>
              <a:t>פירושונים</a:t>
            </a:r>
            <a:endParaRPr lang="he-IL" sz="4000" dirty="0"/>
          </a:p>
          <a:p>
            <a:r>
              <a:rPr lang="he-IL" sz="4000" dirty="0" err="1"/>
              <a:t>קצרמרים</a:t>
            </a:r>
            <a:endParaRPr lang="he-IL" sz="4000" dirty="0"/>
          </a:p>
          <a:p>
            <a:r>
              <a:rPr lang="he-IL" sz="4000" dirty="0"/>
              <a:t>פגיעות גדולה להתקפות מכוונות</a:t>
            </a:r>
          </a:p>
          <a:p>
            <a:r>
              <a:rPr lang="he-IL" sz="4000" dirty="0"/>
              <a:t>עמידות נגד התקפות רנדומליות</a:t>
            </a:r>
          </a:p>
          <a:p>
            <a:pPr marL="0" indent="0">
              <a:buNone/>
            </a:pPr>
            <a:endParaRPr lang="he-IL" sz="4000" dirty="0"/>
          </a:p>
          <a:p>
            <a:endParaRPr lang="he-IL" sz="4000" dirty="0"/>
          </a:p>
        </p:txBody>
      </p:sp>
    </p:spTree>
    <p:extLst>
      <p:ext uri="{BB962C8B-B14F-4D97-AF65-F5344CB8AC3E}">
        <p14:creationId xmlns:p14="http://schemas.microsoft.com/office/powerpoint/2010/main" val="1064615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342401-2F0F-8ABC-7EC0-B9058FE2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u="sng" dirty="0" err="1"/>
              <a:t>Pagerank</a:t>
            </a:r>
            <a:r>
              <a:rPr lang="en-US" sz="6000" u="sng" dirty="0"/>
              <a:t> &amp; Harmonic closeness</a:t>
            </a:r>
            <a:endParaRPr lang="he-IL" sz="6000" u="sng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5988EEC-1E06-4584-2BCF-E084B9BB98BD}"/>
              </a:ext>
            </a:extLst>
          </p:cNvPr>
          <p:cNvSpPr txBox="1"/>
          <p:nvPr/>
        </p:nvSpPr>
        <p:spPr>
          <a:xfrm>
            <a:off x="1973317" y="1576552"/>
            <a:ext cx="9380483" cy="33239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he-IL" sz="3000" dirty="0"/>
              <a:t>מרכיבים של המרחב, אירועים היסטוריים, שנים ותקופות, הגדרות כלליות.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err="1"/>
              <a:t>Pagerank</a:t>
            </a:r>
            <a:r>
              <a:rPr lang="he-IL" sz="3000" dirty="0"/>
              <a:t> – שפות ודתות</a:t>
            </a:r>
            <a:endParaRPr lang="en-US" sz="3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/>
              <a:t> - Harmonic closeness</a:t>
            </a:r>
            <a:r>
              <a:rPr lang="he-IL" sz="3000" dirty="0"/>
              <a:t>אנשים מפורסמים בעלי השפעה</a:t>
            </a:r>
            <a:endParaRPr lang="en-US" sz="3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e-IL" sz="3000" dirty="0"/>
              <a:t>הומוגניות בין הנושאים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e-IL" sz="3000" dirty="0"/>
              <a:t>העדפה לישראל</a:t>
            </a:r>
            <a:br>
              <a:rPr lang="en-US" sz="3000" dirty="0"/>
            </a:br>
            <a:endParaRPr lang="he-IL" sz="3000" dirty="0"/>
          </a:p>
        </p:txBody>
      </p:sp>
      <p:pic>
        <p:nvPicPr>
          <p:cNvPr id="6" name="תמונה 5" descr="תמונה שמכילה גופן, צילום מסך, מספר, שעו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DEBD9F0-0E97-7D9D-5DB3-035F83965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4962"/>
            <a:ext cx="5165889" cy="19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38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1DC7-5952-021B-CA2E-4D74ED53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צילום מסך, דפוס, אומנות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A6606F8-883A-85B9-E997-93F2D93A9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72" y="1367"/>
            <a:ext cx="8076882" cy="6827580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CF3D2B85-F1C2-EB1A-C38D-7309EA732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279305" y="1308358"/>
            <a:ext cx="6828946" cy="427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5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354981-5A27-047B-A843-46CC8047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he-IL" sz="10000" dirty="0"/>
              <a:t>תודה רבה</a:t>
            </a:r>
          </a:p>
        </p:txBody>
      </p:sp>
    </p:spTree>
    <p:extLst>
      <p:ext uri="{BB962C8B-B14F-4D97-AF65-F5344CB8AC3E}">
        <p14:creationId xmlns:p14="http://schemas.microsoft.com/office/powerpoint/2010/main" val="416537836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239</Words>
  <Application>Microsoft Office PowerPoint</Application>
  <PresentationFormat>מסך רחב</PresentationFormat>
  <Paragraphs>65</Paragraphs>
  <Slides>11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ערכת נושא Office</vt:lpstr>
      <vt:lpstr>ויקיפדיה העברית </vt:lpstr>
      <vt:lpstr>מהי הרשת שלנו?</vt:lpstr>
      <vt:lpstr>איך השגנו את הנתונים:</vt:lpstr>
      <vt:lpstr>למה בחרנו ברשת הזאת?</vt:lpstr>
      <vt:lpstr>מצגת של PowerPoint‏</vt:lpstr>
      <vt:lpstr>מצגת של PowerPoint‏</vt:lpstr>
      <vt:lpstr>מצגת של PowerPoint‏</vt:lpstr>
      <vt:lpstr>גשרי הגרף ועמידותו:</vt:lpstr>
      <vt:lpstr>Pagerank &amp; Harmonic closeness</vt:lpstr>
      <vt:lpstr>מצגת של PowerPoint‏</vt:lpstr>
      <vt:lpstr>תודה רבה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Kids Bahat-Petel</dc:creator>
  <cp:lastModifiedBy>Kids Bahat-Petel</cp:lastModifiedBy>
  <cp:revision>16</cp:revision>
  <dcterms:created xsi:type="dcterms:W3CDTF">2026-02-06T23:14:51Z</dcterms:created>
  <dcterms:modified xsi:type="dcterms:W3CDTF">2026-02-17T07:28:58Z</dcterms:modified>
</cp:coreProperties>
</file>